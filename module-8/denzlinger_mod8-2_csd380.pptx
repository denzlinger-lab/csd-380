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2000"/>
  <p:notesSz cx="6858000" cy="9144000"/>
  <p:embeddedFontLst>
    <p:embeddedFont>
      <p:font typeface="Poppins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9712B2F-616F-4C56-85A2-7DB471DAFC1D}">
  <a:tblStyle styleId="{E9712B2F-616F-4C56-85A2-7DB471DAFC1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5.xml"/><Relationship Id="rId22" Type="http://schemas.openxmlformats.org/officeDocument/2006/relationships/font" Target="fonts/Lato-italic.fntdata"/><Relationship Id="rId10" Type="http://schemas.openxmlformats.org/officeDocument/2006/relationships/slide" Target="slides/slide4.xml"/><Relationship Id="rId21" Type="http://schemas.openxmlformats.org/officeDocument/2006/relationships/font" Target="fonts/Lato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Poppins-bold.fntdata"/><Relationship Id="rId16" Type="http://schemas.openxmlformats.org/officeDocument/2006/relationships/font" Target="fonts/Poppins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Poppins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Poppi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5.png"/><Relationship Id="rId7" Type="http://schemas.openxmlformats.org/officeDocument/2006/relationships/image" Target="../media/image9.png"/><Relationship Id="rId8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95275" y="2126902"/>
            <a:ext cx="11601450" cy="904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Barriers to Just Culture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571500" y="3260377"/>
            <a:ext cx="110490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Abram Denzlinger</a:t>
            </a:r>
            <a:endParaRPr sz="18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July 12, 2026</a:t>
            </a:r>
            <a:endParaRPr sz="18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Assignment 8.2 - CSD-380</a:t>
            </a:r>
            <a:endParaRPr sz="1800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824162"/>
            <a:ext cx="5286375" cy="2162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824162"/>
            <a:ext cx="5286375" cy="21621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Defining Just Culture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866775" y="3119437"/>
            <a:ext cx="493061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Traditional Model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866775" y="3586162"/>
            <a:ext cx="46958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Rooted in "Naming, Blaming, and Shaming." Mistakes are treated as individual failures, leading to secrecy and systemic fragility.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6629400" y="3119437"/>
            <a:ext cx="493061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Just Culture Model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629400" y="3586162"/>
            <a:ext cx="46958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Treats human error as a symptom of system design. Focuses on organizational learning, accountability, and psychological safety.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Human-Error Fallacy</a:t>
            </a:r>
            <a:endParaRPr/>
          </a:p>
        </p:txBody>
      </p:sp>
      <p:pic>
        <p:nvPicPr>
          <p:cNvPr descr="image.png" id="102" name="Google Shape;1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238375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838200" y="31432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952500" y="314325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Root Cause Misconception: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Treating human error as the cause rather than the symptom.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38200" y="37528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952500" y="375285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"Defensive" Barrier: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It is easier to reprimand an individual than to re-engineer complex systems.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38200" y="4362450"/>
            <a:ext cx="114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952500" y="4362450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Result: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Systems remain brittle, ensuring repeat failures.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524000"/>
            <a:ext cx="355595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17950" y="1524000"/>
            <a:ext cx="355595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64400" y="1524000"/>
            <a:ext cx="355595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Fragile Psychological Safety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782638" y="2457450"/>
            <a:ext cx="313367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Siloed Mentality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857250" y="2924175"/>
            <a:ext cx="2984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Us-versus-them dynamics between Dev and Ops prevent transparent communication.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4529089" y="2457450"/>
            <a:ext cx="313367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Information Hiding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4603700" y="2924175"/>
            <a:ext cx="2984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Employees withhold incident data to protect their reputation in a fear-based environment.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8275539" y="2457450"/>
            <a:ext cx="313367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Leadership Void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350150" y="2924175"/>
            <a:ext cx="29844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Lack of explicit commitment to safety leaves teams feeling exposed.</a:t>
            </a:r>
            <a:endParaRPr/>
          </a:p>
        </p:txBody>
      </p:sp>
      <p:pic>
        <p:nvPicPr>
          <p:cNvPr descr="image.png" id="123" name="Google Shape;12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82713" y="184785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57726" y="1847850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04176" y="1847850"/>
            <a:ext cx="47625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"Just" vs. "No-Blame"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571425" y="2317750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Ambiguity Barrier: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Many leaders confuse "no-blame" with "anything goes."</a:t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571425" y="2813050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Distinction: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571425" y="3917950"/>
            <a:ext cx="11049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Outcome: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Clearer accountability builds trust rather than undermining it.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742875" y="3117850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○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857175" y="3117850"/>
            <a:ext cx="10763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Honest Human Mistake: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System design investigation required.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742875" y="3422650"/>
            <a:ext cx="114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○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857175" y="3422650"/>
            <a:ext cx="10763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143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Gross Negligence: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Disciplinary action required.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Cognitive Biases</a:t>
            </a:r>
            <a:endParaRPr/>
          </a:p>
        </p:txBody>
      </p:sp>
      <p:pic>
        <p:nvPicPr>
          <p:cNvPr descr="image.png" id="143" name="Google Shape;14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238375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 txBox="1"/>
          <p:nvPr/>
        </p:nvSpPr>
        <p:spPr>
          <a:xfrm>
            <a:off x="6334125" y="2471737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Biases That Obstruct Growth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6334125" y="293846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Hindsight Bias: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Assuming outcomes were obvious before they happened.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6334125" y="373856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Outcome Bias: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Judging decisions by results instead of available information.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6334125" y="453866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"Just World" Hypothesis: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Believing individuals inherently "deserve" failure.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Strategic Framework</a:t>
            </a:r>
            <a:endParaRPr/>
          </a:p>
        </p:txBody>
      </p:sp>
      <p:graphicFrame>
        <p:nvGraphicFramePr>
          <p:cNvPr id="153" name="Google Shape;153;p19"/>
          <p:cNvGraphicFramePr/>
          <p:nvPr/>
        </p:nvGraphicFramePr>
        <p:xfrm>
          <a:off x="571500" y="2133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{E9712B2F-616F-4C56-85A2-7DB471DAFC1D}</a:tableStyleId>
              </a:tblPr>
              <a:tblGrid>
                <a:gridCol w="3398050"/>
                <a:gridCol w="7650950"/>
              </a:tblGrid>
              <a:tr h="58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Barrier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Actionable Strategy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8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Blame Culture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Implement Blameless Post-Mortems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57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Cognitive Biases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Use standard forensic investigation timelines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Bureaucratic Silos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Institutionalize cross-functional reliability goals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4" name="Google Shape;154;p19"/>
          <p:cNvSpPr/>
          <p:nvPr/>
        </p:nvSpPr>
        <p:spPr>
          <a:xfrm>
            <a:off x="571500" y="2747962"/>
            <a:ext cx="33981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3969543" y="2747962"/>
            <a:ext cx="7650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/>
          <p:nvPr/>
        </p:nvSpPr>
        <p:spPr>
          <a:xfrm>
            <a:off x="571500" y="3319462"/>
            <a:ext cx="33981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9"/>
          <p:cNvSpPr/>
          <p:nvPr/>
        </p:nvSpPr>
        <p:spPr>
          <a:xfrm>
            <a:off x="3969543" y="3319462"/>
            <a:ext cx="7650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/>
          <p:nvPr/>
        </p:nvSpPr>
        <p:spPr>
          <a:xfrm>
            <a:off x="571500" y="3890962"/>
            <a:ext cx="33981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/>
          <p:nvPr/>
        </p:nvSpPr>
        <p:spPr>
          <a:xfrm>
            <a:off x="3969543" y="3890962"/>
            <a:ext cx="7650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9"/>
          <p:cNvSpPr/>
          <p:nvPr/>
        </p:nvSpPr>
        <p:spPr>
          <a:xfrm>
            <a:off x="571500" y="4462462"/>
            <a:ext cx="33981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9"/>
          <p:cNvSpPr/>
          <p:nvPr/>
        </p:nvSpPr>
        <p:spPr>
          <a:xfrm>
            <a:off x="3969543" y="4462462"/>
            <a:ext cx="7650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Sources</a:t>
            </a:r>
            <a:endParaRPr/>
          </a:p>
        </p:txBody>
      </p:sp>
      <p:sp>
        <p:nvSpPr>
          <p:cNvPr id="167" name="Google Shape;167;p20"/>
          <p:cNvSpPr txBox="1"/>
          <p:nvPr/>
        </p:nvSpPr>
        <p:spPr>
          <a:xfrm>
            <a:off x="752475" y="1543050"/>
            <a:ext cx="1141142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Kim, Gene, et al. </a:t>
            </a:r>
            <a:r>
              <a:rPr b="1" i="1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The DevOps Handbook</a:t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752475" y="2009775"/>
            <a:ext cx="108680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IT Revolution Press, 2021. Focuses on the integration of Lean, safety culture, and organizational models like Westrum’s.</a:t>
            </a:r>
            <a:endParaRPr/>
          </a:p>
        </p:txBody>
      </p:sp>
      <p:sp>
        <p:nvSpPr>
          <p:cNvPr id="169" name="Google Shape;169;p20"/>
          <p:cNvSpPr txBox="1"/>
          <p:nvPr/>
        </p:nvSpPr>
        <p:spPr>
          <a:xfrm>
            <a:off x="752475" y="2647950"/>
            <a:ext cx="1141142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"How SRE Creates a Blameless Culture" (DevOps.com)</a:t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752475" y="3114675"/>
            <a:ext cx="108680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Discusses the impact of blame on innovation and the necessity of focusing on systemic vulnerabilities over individual "heroics."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752475" y="3752850"/>
            <a:ext cx="1141142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"How to Implement Blameless Culture" (OneUptime)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752475" y="4219575"/>
            <a:ext cx="108680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Provides a practical look at how fear-based reporting leads to technical debt and systemic fragility.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752475" y="4857750"/>
            <a:ext cx="1141142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"Creating a Just Culture, Moving Away from a Blame Culture" (The Oxford Review)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752475" y="5324475"/>
            <a:ext cx="108680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Examines the distinction between no-blame and just culture, emphasizing the role of accountability in a learning-oriented environment.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1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180" name="Google Shape;180;p21"/>
          <p:cNvSpPr/>
          <p:nvPr/>
        </p:nvSpPr>
        <p:spPr>
          <a:xfrm>
            <a:off x="571500" y="2522339"/>
            <a:ext cx="11049000" cy="98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1"/>
          <p:cNvSpPr/>
          <p:nvPr/>
        </p:nvSpPr>
        <p:spPr>
          <a:xfrm>
            <a:off x="571500" y="3495675"/>
            <a:ext cx="110490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571500" y="3495675"/>
            <a:ext cx="110490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3" name="Google Shape;18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77088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1"/>
          <p:cNvSpPr txBox="1"/>
          <p:nvPr/>
        </p:nvSpPr>
        <p:spPr>
          <a:xfrm>
            <a:off x="1666875" y="2665214"/>
            <a:ext cx="99537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https://img.magnific.com/premium-photo/portrait-diverse-software-development-team-collaborating-project-modern-office-focus-lead-engineer-instructing-colleagues-copy-space_236854-29531.jpg</a:t>
            </a:r>
            <a:endParaRPr/>
          </a:p>
        </p:txBody>
      </p:sp>
      <p:sp>
        <p:nvSpPr>
          <p:cNvPr id="185" name="Google Shape;185;p21"/>
          <p:cNvSpPr txBox="1"/>
          <p:nvPr/>
        </p:nvSpPr>
        <p:spPr>
          <a:xfrm>
            <a:off x="1666875" y="3109020"/>
            <a:ext cx="995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www.magnific.com</a:t>
            </a:r>
            <a:endParaRPr/>
          </a:p>
        </p:txBody>
      </p:sp>
      <p:pic>
        <p:nvPicPr>
          <p:cNvPr descr="image.png" id="186" name="Google Shape;18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5374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1"/>
          <p:cNvSpPr txBox="1"/>
          <p:nvPr/>
        </p:nvSpPr>
        <p:spPr>
          <a:xfrm>
            <a:off x="1666875" y="3648075"/>
            <a:ext cx="99537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https://static.vecteezy.com/system/resources/previews/004/772/063/non_2x/graphic-abstract-element-business-data-visualization-process-chart-a-diagram-with-steps-options-sections-or-processes-business-template-for-presentations-creative-concept-for-infographic-free-vector.jpg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1666875" y="4091880"/>
            <a:ext cx="9953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