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bold.fntdata"/><Relationship Id="rId25" Type="http://schemas.openxmlformats.org/officeDocument/2006/relationships/font" Target="fonts/PoppinsSemiBold-regular.fntdata"/><Relationship Id="rId28" Type="http://schemas.openxmlformats.org/officeDocument/2006/relationships/font" Target="fonts/PoppinsSemiBold-boldItalic.fntdata"/><Relationship Id="rId27" Type="http://schemas.openxmlformats.org/officeDocument/2006/relationships/font" Target="fonts/Poppi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40468" y="2152798"/>
            <a:ext cx="8511063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Technology Value Stream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43112" y="2983259"/>
            <a:ext cx="810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From Idea to Customer Delivery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634680"/>
            <a:ext cx="762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043112" y="3958530"/>
            <a:ext cx="8105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Abram Denzlinger</a:t>
            </a:r>
            <a:endParaRPr b="1" sz="1350">
              <a:solidFill>
                <a:srgbClr val="00508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June 7, 2026</a:t>
            </a:r>
            <a:endParaRPr b="1" sz="1350">
              <a:solidFill>
                <a:srgbClr val="00508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CSD380 - Assignment 1.2</a:t>
            </a:r>
            <a:endParaRPr b="1" sz="1350">
              <a:solidFill>
                <a:srgbClr val="00508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545556" y="2320379"/>
            <a:ext cx="71008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01. Defining the Stream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2250" y="3196679"/>
            <a:ext cx="6667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Understanding the conceptual blueprint of value delivery in contemporary software development.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0" y="4213770"/>
            <a:ext cx="762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05025"/>
            <a:ext cx="5143500" cy="3379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5025"/>
            <a:ext cx="5143500" cy="3379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104900" y="244792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General Definition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04900" y="305365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value stream is the end-to-end sequence of operational activities required to design, produce, and deliver a product or service directly to a customer.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04900" y="4082206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physical manufacturing, these steps are highly tangible and observable on the physical factory plant floor.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04900" y="4979342"/>
            <a:ext cx="4457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Reference: Kim et al., 2016, p. 8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244792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Technology Stream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29400" y="2962275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technology, </a:t>
            </a: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value stream is largely "invisible" and highly digital</a:t>
            </a: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consisting of code, configurations, deployments, and database updates.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29400" y="389944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explicitly focuses on converting business-driven hypotheses into fully realized, technology-enabled services delivered to the user.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29400" y="4979491"/>
            <a:ext cx="4457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Reference: Kim et al., 2016, p. 8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a Value Stream?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62000" y="3013620"/>
            <a:ext cx="47434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E07A5F"/>
                </a:solidFill>
                <a:latin typeface="Poppins"/>
                <a:ea typeface="Poppins"/>
                <a:cs typeface="Poppins"/>
                <a:sym typeface="Poppins"/>
              </a:rPr>
              <a:t>99%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4347120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TYPICAL WASTE GAP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286500" y="2368004"/>
            <a:ext cx="54006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Crucial Metrics to Differentiate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286500" y="2882354"/>
            <a:ext cx="5143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Lead Time (The Clock of the Customer):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Starts immediately when a request is initiated and stops when the deployment goes live. This measures the complete customer experience and includes all wait times in queues.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286500" y="4347115"/>
            <a:ext cx="5143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Processing Time (The Clock of the Engineer):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Commences only when active execution begins. It excludes inactive downtime or waiting phases.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286500" y="5531635"/>
            <a:ext cx="514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Reference: The DevOps Handbook, Page 9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Lead Time vs. Processing Time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762000" y="1950839"/>
            <a:ext cx="54006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Core Issue: Inactive Queue Time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62000" y="2465189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classical organizations, work must slowly progress through rigid functional silos (product managers, development, QA, security, database administration, and operations).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5901451"/>
            <a:ext cx="514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Reference: Kim et al., 2016, p. 10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95375" y="3633134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Siloed Environments: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Multiple handoffs generate extreme delays.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95375" y="4324590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Long Queue Delays: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Work spends up to 99% of its total lead time idle in various queues.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95375" y="5016045"/>
            <a:ext cx="4810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Failure Rate: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Large batches increase production deployment risks.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7599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6745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05890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Bottleneck of Manual Silos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5500" y="1708800"/>
            <a:ext cx="6050751" cy="36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05025"/>
            <a:ext cx="5143500" cy="3379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5025"/>
            <a:ext cx="5143500" cy="3379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1104900" y="244792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Common Scenario (Months)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104900" y="296227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Traditional deployment setups require months to pass testing, change management boards, and infrastructure handoffs.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1104900" y="389944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slow cycle prevents quick responses to market changes, raises project stress, and introduces massive system fragility.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104900" y="4979491"/>
            <a:ext cx="4457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Reference: Kim et al., 2016, p. 10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629400" y="2447925"/>
            <a:ext cx="46805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DevOps Ideal (Minutes)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629400" y="296227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DevOps transforms the paradigm so developers receive constant, rapid feedback, allowing deployments to occur routinely.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629400" y="389944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automating testing and environments, lead times shrink from months to minutes, making deployments low-risk operations.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629400" y="4979491"/>
            <a:ext cx="4457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Reference: Kim et al., 2016, p. 10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Deployment Times: Common vs. Ideal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45952"/>
            <a:ext cx="3397299" cy="3297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424" y="2145952"/>
            <a:ext cx="3397299" cy="3297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849" y="2145952"/>
            <a:ext cx="3397299" cy="329743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057275" y="3050827"/>
            <a:ext cx="294708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Continuous Integration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57275" y="3936652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Developers routinely check code into a shared repository, running automatic unit tests immediately to pinpoint regressions early.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692699" y="3050827"/>
            <a:ext cx="29470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QA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4692699" y="3565177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 regressions and staging tests are fully automated, shifting validation left to catch integration defects in real time.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328124" y="3050827"/>
            <a:ext cx="29470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On-Demand Deploy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328124" y="3565177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Infrastructure is managed as code. Standardized deployment pipelines handle builds safely without lengthy manual configurations.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48885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48885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48885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How DevOps Shrinks Deployment Time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2990"/>
            <a:ext cx="10668000" cy="498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762000" y="4296667"/>
            <a:ext cx="10668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standard DevOps implementation focuses entirely on reducing wait states in queues, shrinking total lead time to mirror processing time as closely as possible.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Typical Lead Time Comparison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2046825"/>
            <a:ext cx="2346875" cy="267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1065" y="2046832"/>
            <a:ext cx="2346870" cy="2676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25830" y="2090807"/>
            <a:ext cx="2346870" cy="267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920536" y="2199220"/>
            <a:ext cx="21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Fast Flow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71550" y="2943295"/>
            <a:ext cx="20421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Accelerating the movement of work from left to right (from development to operations and the end customer).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052413" y="2199232"/>
            <a:ext cx="2144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Fast Feedback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074865" y="2843506"/>
            <a:ext cx="20421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Injecting continuous feedback loops from right to left to address and resolve defects immediately at the source.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9127178" y="2243208"/>
            <a:ext cx="214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Continuous Learning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178230" y="3129032"/>
            <a:ext cx="20421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Fostering a high-trust culture that encourages scientific experimentation, safe failure, and organizational learning.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Three Ways of DevOps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279874"/>
            <a:ext cx="7620000" cy="186392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2095500" y="1714053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2286000" y="2628453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Questions &amp; Academic References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2533650" y="3527524"/>
            <a:ext cx="71247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Primary Textbook Reference: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2533650" y="3837086"/>
            <a:ext cx="71247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Kim, G., Humble, J., Debois, P., &amp; Willis, J. (2016). </a:t>
            </a:r>
            <a:r>
              <a:rPr b="0" i="1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The DevOps Handbook: How to Create World-Class Agility, Reliability, and Security in Technology Organizations</a:t>
            </a:r>
            <a:r>
              <a:rPr b="0" i="0" lang="en-US" sz="10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(1st ed.). IT Revolution Press.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2533650" y="4400847"/>
            <a:ext cx="7124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"By understanding our technology value stream, we can systematically eliminate work-in-progress, automate manual processes, and transform months of delay into minutes of reliable delivery."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565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857375" y="3549997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https://corporate-assets.lucid.co/chart/563c02fb-dbec-495d-a9d7-532b598ed985.png?v=1707843654752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857375" y="3795712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www.lucidchart.com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904875" y="571500"/>
            <a:ext cx="11051381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