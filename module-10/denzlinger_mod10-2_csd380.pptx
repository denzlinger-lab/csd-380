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Quattrocento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QuattrocentoSans-bold.fntdata"/><Relationship Id="rId16" Type="http://schemas.openxmlformats.org/officeDocument/2006/relationships/font" Target="fonts/Quattrocento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QuattrocentoSans-boldItalic.fntdata"/><Relationship Id="rId6" Type="http://schemas.openxmlformats.org/officeDocument/2006/relationships/slide" Target="slides/slide1.xml"/><Relationship Id="rId18" Type="http://schemas.openxmlformats.org/officeDocument/2006/relationships/font" Target="fonts/Quattrocento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harness.io/harness-devops-academy/secure-code-repositories-best-practices" TargetMode="External"/><Relationship Id="rId4" Type="http://schemas.openxmlformats.org/officeDocument/2006/relationships/hyperlink" Target="https://developer.harness.io/docs/infra-as-code-management/iacm-best-practices/" TargetMode="External"/><Relationship Id="rId5" Type="http://schemas.openxmlformats.org/officeDocument/2006/relationships/hyperlink" Target="https://security.salesforce.com/security-best-practices/" TargetMode="External"/><Relationship Id="rId6" Type="http://schemas.openxmlformats.org/officeDocument/2006/relationships/hyperlink" Target="https://appexchange.salesforce.com/partners/servlet/servlet.FileDownload?file=00P4V00000u4drEUAQ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95275" y="2761357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Securing Shared Source Code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3609082"/>
            <a:ext cx="110490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Abram Denzlinger</a:t>
            </a:r>
            <a:endParaRPr sz="2400">
              <a:solidFill>
                <a:srgbClr val="3B82F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July 25, 2026</a:t>
            </a:r>
            <a:endParaRPr sz="2400">
              <a:solidFill>
                <a:srgbClr val="3B82F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CSD-380 - Assignment 10.2</a:t>
            </a:r>
            <a:endParaRPr sz="2400">
              <a:solidFill>
                <a:srgbClr val="3B82F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571500" y="5715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Best Practices Overview</a:t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>
            <a:off x="1509700" y="1405375"/>
            <a:ext cx="2216400" cy="1771200"/>
          </a:xfrm>
          <a:prstGeom prst="roundRect">
            <a:avLst>
              <a:gd fmla="val 16667" name="adj"/>
            </a:avLst>
          </a:prstGeom>
          <a:solidFill>
            <a:srgbClr val="12192C"/>
          </a:solidFill>
          <a:ln cap="flat" cmpd="sng" w="9525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Identity &amp; Access Management (IAM)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4987800" y="1405363"/>
            <a:ext cx="2216400" cy="1771200"/>
          </a:xfrm>
          <a:prstGeom prst="roundRect">
            <a:avLst>
              <a:gd fmla="val 16667" name="adj"/>
            </a:avLst>
          </a:prstGeom>
          <a:solidFill>
            <a:srgbClr val="12192C"/>
          </a:solidFill>
          <a:ln cap="flat" cmpd="sng" w="9525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Secret Management &amp; Data Protection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8465900" y="1405363"/>
            <a:ext cx="2216400" cy="1771200"/>
          </a:xfrm>
          <a:prstGeom prst="roundRect">
            <a:avLst>
              <a:gd fmla="val 16667" name="adj"/>
            </a:avLst>
          </a:prstGeom>
          <a:solidFill>
            <a:srgbClr val="12192C"/>
          </a:solidFill>
          <a:ln cap="flat" cmpd="sng" w="9525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Branch Protection &amp; Collaboration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1509700" y="4090963"/>
            <a:ext cx="2216400" cy="1771200"/>
          </a:xfrm>
          <a:prstGeom prst="roundRect">
            <a:avLst>
              <a:gd fmla="val 16667" name="adj"/>
            </a:avLst>
          </a:prstGeom>
          <a:solidFill>
            <a:srgbClr val="12192C"/>
          </a:solidFill>
          <a:ln cap="flat" cmpd="sng" w="9525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Dependency &amp; Supply Chain Governance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4987800" y="4090963"/>
            <a:ext cx="2216400" cy="1771200"/>
          </a:xfrm>
          <a:prstGeom prst="roundRect">
            <a:avLst>
              <a:gd fmla="val 16667" name="adj"/>
            </a:avLst>
          </a:prstGeom>
          <a:solidFill>
            <a:srgbClr val="12192C"/>
          </a:solidFill>
          <a:ln cap="flat" cmpd="sng" w="9525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 CI/CD Pipeline &amp; Automation Security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8465900" y="4090963"/>
            <a:ext cx="2216400" cy="1771200"/>
          </a:xfrm>
          <a:prstGeom prst="roundRect">
            <a:avLst>
              <a:gd fmla="val 16667" name="adj"/>
            </a:avLst>
          </a:prstGeom>
          <a:solidFill>
            <a:srgbClr val="12192C"/>
          </a:solidFill>
          <a:ln cap="flat" cmpd="sng" w="9525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 Monitoring, Response &amp; Policies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484550" y="2767937"/>
            <a:ext cx="266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962650" y="2777087"/>
            <a:ext cx="266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440750" y="2777087"/>
            <a:ext cx="266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440750" y="5433787"/>
            <a:ext cx="266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962650" y="5433787"/>
            <a:ext cx="266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2484550" y="5433787"/>
            <a:ext cx="266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571500" y="5715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Identity &amp; Access Management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52500" y="1221262"/>
            <a:ext cx="495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Enforce Least Privilege RBAC.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52500" y="1678462"/>
            <a:ext cx="495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Mandate MFA for all contributors.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52500" y="2135662"/>
            <a:ext cx="495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Verify commits via Cryptographic Signing.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1221262"/>
            <a:ext cx="266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1678462"/>
            <a:ext cx="266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2135662"/>
            <a:ext cx="266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0200" y="2633975"/>
            <a:ext cx="7491589" cy="408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/>
        </p:nvSpPr>
        <p:spPr>
          <a:xfrm>
            <a:off x="571500" y="5715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Secret Management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952500" y="1190912"/>
            <a:ext cx="106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Never hardcode sensitive tokens or keys.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952500" y="1648112"/>
            <a:ext cx="106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 dedicated secret vaults (e.g., HashiCorp Vault).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952500" y="2105312"/>
            <a:ext cx="106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Automate scanning with tools like Gitleaks.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1190912"/>
            <a:ext cx="266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1648112"/>
            <a:ext cx="266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2105312"/>
            <a:ext cx="266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pic>
        <p:nvPicPr>
          <p:cNvPr id="126" name="Google Shape;12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7800" y="2691000"/>
            <a:ext cx="7476401" cy="408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/>
        </p:nvSpPr>
        <p:spPr>
          <a:xfrm>
            <a:off x="571500" y="5715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Branch Protection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952500" y="1189137"/>
            <a:ext cx="495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Block direct pushes to main branches.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952500" y="1646337"/>
            <a:ext cx="495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Require peer reviews for every PR.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952500" y="2103537"/>
            <a:ext cx="495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Enforce successful CI/CD status checks.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71500" y="1189137"/>
            <a:ext cx="266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71500" y="1646337"/>
            <a:ext cx="266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2103537"/>
            <a:ext cx="266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pic>
        <p:nvPicPr>
          <p:cNvPr id="138" name="Google Shape;13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5825" y="2689200"/>
            <a:ext cx="7420337" cy="405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/>
        </p:nvSpPr>
        <p:spPr>
          <a:xfrm>
            <a:off x="571500" y="5715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Supply Chain Governance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952500" y="1261487"/>
            <a:ext cx="106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 lock files for dependency pinning.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952500" y="1718687"/>
            <a:ext cx="106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Run SCA scans on third-party libraries.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952500" y="2175887"/>
            <a:ext cx="106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Automate patches with tools like Dependabot.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571500" y="1261487"/>
            <a:ext cx="266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571500" y="1718687"/>
            <a:ext cx="266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71500" y="2175887"/>
            <a:ext cx="266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pic>
        <p:nvPicPr>
          <p:cNvPr id="150" name="Google Shape;15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0488" y="2809750"/>
            <a:ext cx="7251016" cy="395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/>
        </p:nvSpPr>
        <p:spPr>
          <a:xfrm>
            <a:off x="571500" y="5715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 CI/CD &amp; Automation Security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952500" y="1205187"/>
            <a:ext cx="106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Run automated SAST scans before merging.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952500" y="1662387"/>
            <a:ext cx="106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Harden CI/CD workflows (restrict permissions).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952500" y="2119587"/>
            <a:ext cx="106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Pin actions to specific commit SHAs.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571500" y="1205187"/>
            <a:ext cx="266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571500" y="1662387"/>
            <a:ext cx="266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571500" y="2119587"/>
            <a:ext cx="266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pic>
        <p:nvPicPr>
          <p:cNvPr id="162" name="Google Shape;16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5238" y="2769475"/>
            <a:ext cx="7341524" cy="400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 txBox="1"/>
          <p:nvPr/>
        </p:nvSpPr>
        <p:spPr>
          <a:xfrm>
            <a:off x="571500" y="5715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 Monitoring &amp; Response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952500" y="1152537"/>
            <a:ext cx="495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Alert on suspicious repository activity.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952500" y="1609737"/>
            <a:ext cx="495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Publish SECURITY.md at root.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952500" y="2066937"/>
            <a:ext cx="495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Define clear disclosure procedures.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571500" y="1152537"/>
            <a:ext cx="266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571500" y="1609737"/>
            <a:ext cx="266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571500" y="2066937"/>
            <a:ext cx="266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/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7100" y="2625025"/>
            <a:ext cx="7577800" cy="413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/>
        </p:nvSpPr>
        <p:spPr>
          <a:xfrm>
            <a:off x="571500" y="5715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Sources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571500" y="1622150"/>
            <a:ext cx="8149500" cy="23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Harness</a:t>
            </a:r>
            <a:r>
              <a:rPr lang="en-US" sz="165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(DevOps Academy &amp; Infrastructure as Code Management Guides):</a:t>
            </a:r>
            <a:endParaRPr sz="165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Quattrocento Sans"/>
              <a:buChar char="●"/>
            </a:pPr>
            <a:r>
              <a:rPr lang="en-US" sz="16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3"/>
              </a:rPr>
              <a:t>Best Practices for Securing Code Repositories | Harness Glossary</a:t>
            </a:r>
            <a:endParaRPr sz="1650" u="sng">
              <a:solidFill>
                <a:schemeClr val="hlink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Quattrocento Sans"/>
              <a:buChar char="●"/>
            </a:pPr>
            <a:r>
              <a:rPr lang="en-US" sz="16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4"/>
              </a:rPr>
              <a:t>Best Practices | Harness Developer Hub</a:t>
            </a:r>
            <a:endParaRPr sz="1650" u="sng">
              <a:solidFill>
                <a:schemeClr val="hlink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Salesforce</a:t>
            </a:r>
            <a:r>
              <a:rPr lang="en-US" sz="165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(Security Guidance &amp; AppExchange Documentation):</a:t>
            </a:r>
            <a:endParaRPr sz="165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Quattrocento Sans"/>
              <a:buChar char="●"/>
            </a:pPr>
            <a:r>
              <a:rPr lang="en-US" sz="16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5"/>
              </a:rPr>
              <a:t>Salesforce Security Best Practices</a:t>
            </a:r>
            <a:endParaRPr sz="1650" u="sng">
              <a:solidFill>
                <a:schemeClr val="hlink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Quattrocento Sans"/>
              <a:buChar char="●"/>
            </a:pPr>
            <a:r>
              <a:rPr lang="en-US" sz="1650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6"/>
              </a:rPr>
              <a:t>The Complete Guide to Salesforce Data Security (AppExchange PDF)</a:t>
            </a:r>
            <a:endParaRPr sz="1650" u="sng">
              <a:solidFill>
                <a:schemeClr val="hlink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 </a:t>
            </a:r>
            <a:r>
              <a:rPr b="1" lang="en-US" sz="3000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Generation</a:t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571500" y="1723087"/>
            <a:ext cx="4953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Images created with Gemini</a:t>
            </a:r>
            <a:endParaRPr sz="18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	</a:t>
            </a:r>
            <a:endParaRPr sz="18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Prompt: Create a graphic that represents (topic) as outlined here. No explanations. Single focus point. Simple graphic.</a:t>
            </a:r>
            <a:endParaRPr i="1" sz="18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